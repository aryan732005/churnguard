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Churn vs Retained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(No)</c:v>
                </c:pt>
                <c:pt idx="1">
                  <c:v>Churned (Yes)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4940</c:v>
                </c:pt>
                <c:pt idx="1">
                  <c:v>2103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A8AAC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73.95</c:v>
                </c:pt>
                <c:pt idx="1">
                  <c:v>73.81</c:v>
                </c:pt>
                <c:pt idx="2">
                  <c:v>75.51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60.71</c:v>
                </c:pt>
                <c:pt idx="1">
                  <c:v>58.13</c:v>
                </c:pt>
                <c:pt idx="2">
                  <c:v>62.1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36.34</c:v>
                </c:pt>
                <c:pt idx="1">
                  <c:v>44.18</c:v>
                </c:pt>
                <c:pt idx="2">
                  <c:v>46.32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45.47</c:v>
                </c:pt>
                <c:pt idx="1">
                  <c:v>50.2</c:v>
                </c:pt>
                <c:pt idx="2">
                  <c:v>53.06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76.51</c:v>
                </c:pt>
                <c:pt idx="1">
                  <c:v>76.39</c:v>
                </c:pt>
                <c:pt idx="2">
                  <c:v>78.31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A8AAC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A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2C4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A8AAC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A8AAC3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A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8AAC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A8AAC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Contract_Two year</c:v>
                  </c:pt>
                  <c:pt idx="1">
                    <c:v>Contract_One year</c:v>
                  </c:pt>
                  <c:pt idx="2">
                    <c:v>tenure</c:v>
                  </c:pt>
                  <c:pt idx="3">
                    <c:v>InternetService_Fiber optic</c:v>
                  </c:pt>
                  <c:pt idx="4">
                    <c:v>PaymentMethod_Electronic check</c:v>
                  </c:pt>
                  <c:pt idx="5">
                    <c:v>OnlineSecurity_Yes</c:v>
                  </c:pt>
                  <c:pt idx="6">
                    <c:v>TechSupport_Yes</c:v>
                  </c:pt>
                  <c:pt idx="7">
                    <c:v>TotalCharges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0.8577</c:v>
                </c:pt>
                <c:pt idx="1">
                  <c:v>0.7337</c:v>
                </c:pt>
                <c:pt idx="2">
                  <c:v>0.598</c:v>
                </c:pt>
                <c:pt idx="3">
                  <c:v>0.3171</c:v>
                </c:pt>
                <c:pt idx="4">
                  <c:v>0.2728</c:v>
                </c:pt>
                <c:pt idx="5">
                  <c:v>0.2235</c:v>
                </c:pt>
                <c:pt idx="6">
                  <c:v>0.1672</c:v>
                </c:pt>
                <c:pt idx="7">
                  <c:v>0.138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50" u="none">
                  <a:solidFill>
                    <a:srgbClr val="A8AAC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8AA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2C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A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758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</a:t>
            </a:r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System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Predictive Analytics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219456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Sharma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Scikit-learn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989320"/>
            <a:ext cx="1121054" cy="274320"/>
          </a:xfrm>
          <a:prstGeom prst="roundRect">
            <a:avLst>
              <a:gd name="adj" fmla="val 50000"/>
            </a:avLst>
          </a:prstGeom>
          <a:solidFill>
            <a:srgbClr val="1D1E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984748"/>
            <a:ext cx="11210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5989320"/>
            <a:ext cx="1420978" cy="274320"/>
          </a:xfrm>
          <a:prstGeom prst="roundRect">
            <a:avLst>
              <a:gd name="adj" fmla="val 50000"/>
            </a:avLst>
          </a:prstGeom>
          <a:solidFill>
            <a:srgbClr val="1D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5984748"/>
            <a:ext cx="14209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5989320"/>
            <a:ext cx="1570939" cy="274320"/>
          </a:xfrm>
          <a:prstGeom prst="roundRect">
            <a:avLst>
              <a:gd name="adj" fmla="val 50000"/>
            </a:avLst>
          </a:prstGeom>
          <a:solidFill>
            <a:srgbClr val="1D1E33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5984748"/>
            <a:ext cx="157093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5989320"/>
            <a:ext cx="1121054" cy="274320"/>
          </a:xfrm>
          <a:prstGeom prst="roundRect">
            <a:avLst>
              <a:gd name="adj" fmla="val 50000"/>
            </a:avLst>
          </a:prstGeom>
          <a:solidFill>
            <a:srgbClr val="1D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5984748"/>
            <a:ext cx="11210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9019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objectives,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2953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Architecture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00200" y="33192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needs, design, data flow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43708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records, 21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50566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ML Pipeline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00200" y="5422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algorithms,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78040" y="19019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app, training pipeline, 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71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2953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Business Impact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78040" y="33192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ROI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023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78040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Security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178040" y="43708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Local/production considerations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93776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074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78040" y="50566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178040" y="5422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roadmap, references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telecommunications industry operates in one of the most fiercely competitive markets globally, characterized by low switching costs and aggressive pricing. Customer churn — when a customer discontinues service — has emerged as a critical business metric directly impacting revenue and long-term sustainability. Industry churn rates range 15%–25% annually, translating to billions in lost revenue worldwide.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retention — identifying at-risk customers before they leave — is significantly more cost-efficient than reactive win-back campaigns. Machine learning enables companies to analyze customer data at scale and surface the patterns that precede churn with remarkable accuracy.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169164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8562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0" y="2587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a new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vs. retaining 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338328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25–95%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13232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increase from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rise in retention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Harvard Business 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vast customer data, telecom companies struggle to accurately identify at-risk customers from a complex, multi-dimensional dataset spanning demographics, service subscriptions, and billing. Class imbalance — churned customers form a minority — further complicates modeling and evaluation.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ML system that not only predicts churn accurately, but is deployed in a user-friendly web application so business stakeholders can act on the insights in real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386584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2494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comprehensive EDA on the Telco Customer Churn dataset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008376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8712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encoding, missing values, scaling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630168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4930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Random Forest, Gradient Boosting, Logistic Regression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Flask app with secure authentication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873752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7365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for real-time churn prediction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5495544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53583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feature-importance insights for retention strategy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— Five Functional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delivers the full ML lifecycle through five integrated web modules.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61188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KPIs &amp; churn/contract visual summaries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05740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35808" y="301752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35808" y="361188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individual customer risk scoring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05740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21808" y="301752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21808" y="361188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 &amp; model insights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05740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07808" y="301752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07808" y="361188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browsing of all 7,043 records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92640" y="205740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93808" y="301752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93808" y="361188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stages &amp; mathematical formulas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Prior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Hadden et al. (2007)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7830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churn techniques; ML consistently outperformed statistical methods.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Vafeiadis et al. (2015)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(RF, GB) outperformed individual classifiers — ROC AUC &gt; 0.80 on benchmarks.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118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 · Friedman (2001)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36118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papers behind Random Forest and Gradient Boosting.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262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 · Ribeiro et al. (2016)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45262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— model interpretability for business-critical decisions.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40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&amp; Casari (2018)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54406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Well-engineered features can lift performance 10–30% over raw features.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26364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(username/password authentication)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7340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273405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KPIs: customers, churn rate, charges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1363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prediction with probability score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5387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353872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— 6+ visualization types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94106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39410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dataset explorer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4343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page with algorithm explanations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745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474573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logout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Auto-train model if none found on startup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95160" y="1691640"/>
            <a:ext cx="461772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38658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571232" y="2258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response &lt; 2 seconds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8712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on standard browsers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3558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7571232" y="3227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dark-theme design system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0" y="384048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3712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8-compliant codebase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0" y="432511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7571232" y="4197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missing artifacts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315200" y="480974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4681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session secret keys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15200" y="5349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 ·  4GB+ RAM  ·  Chrome/Firefox/Edge 90+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MVC-style architecture built on Flask.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76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217627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Jinja2 templates, custom dark-theme CSS, Plotly.js charts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47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354787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routes, session auth (login_required), business logic, REST API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983480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194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491947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pipeline, serialized model artifacts (pickle), CSV &amp; JSON storage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app is the central orchestrator — handling HTTP requests, sessions, ML artifact loading, predictions, and a RESTful chart-data API consumed by Plotly.js on the client.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Training &amp;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24912" y="196596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(encode, scale)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45152" y="19659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01184" y="196596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21424" y="19659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77456" y="196596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68896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(ROC AUC)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97696" y="19659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53728" y="196596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9659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PHASE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794760"/>
            <a:ext cx="173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22576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95728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22776" y="3794760"/>
            <a:ext cx="173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96512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9664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96712" y="3794760"/>
            <a:ext cx="173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70448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70648" y="3794760"/>
            <a:ext cx="173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44384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17536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44584" y="3794760"/>
            <a:ext cx="173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418320" y="379476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91472" y="379476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Probability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file-based — CSV (telco_churn.csv), JSON (stats.json), and Pickle (churn_model.pkl, scaler.pkl, feature_names.pkl) — chosen for portability and simplicity over a managed database.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 &amp; API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480560"/>
          </a:xfrm>
          <a:prstGeom prst="roundRect">
            <a:avLst>
              <a:gd name="adj" fmla="val 1837"/>
            </a:avLst>
          </a:prstGeom>
          <a:solidFill>
            <a:srgbClr val="121218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617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ChurnGuard-AI/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train_model.py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report_config.py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base.html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login.html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dashboard.html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predict.html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analytics.html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dataset.html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methodology.html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static/css/style.css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telco_churn.csv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stats.json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models/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churn_model.pkl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scaler.pkl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feature_names.pkl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691640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/api/chart-data/&lt;type&gt;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4231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churn_distribution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69680" y="24231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tenure_distribution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3026664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3026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contract_churn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3026664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3026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monthly_charges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363016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3630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internet_service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363016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3630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4233672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4233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feature_importance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4233672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D1E33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4233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model_comparison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489204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from server-rendered HTML — dashboard, analytics, and methodology pages load their layout immediately and populate charts via async fetch() calls, improving perceived responsiveness. Protected by the same login_required decorator as the rest of the app.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DATASET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8288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8728" y="25420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8288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45936" y="25420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8288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53144" y="25420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(mo.)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Telco Customer Churn dataset generated to mirror the statistical properties of the widely-used IBM Telco Customer Churn dataset. Feature categories span demographics (gender, senior citizen, partner, dependents), account details (tenure, contract, billing), services (phone, internet, add-ons), and billing amounts. Correlations are calibrated so month-to-month contracts, fiber optic service, and electronic check payment carry elevated churn risk — mirroring real-world telecom patterns.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38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51.4% Male / 48.6% Female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138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55.3% Month-to-month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96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44.4% Fiber optic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596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33.5% Electronic check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DATASET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737360"/>
            <a:ext cx="5623560" cy="4343400"/>
          </a:xfrm>
          <a:prstGeom prst="roundRect">
            <a:avLst>
              <a:gd name="adj" fmla="val 1895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2423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4,940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43800" y="24780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 — 70.14% of the base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43800" y="33009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 — 29.86% of the base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30936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2.3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43800" y="41239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— representative of real-world churn data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09360" y="4892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543800" y="4946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misleading; precision, recall, F1, ROC AUC used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DATASET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040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gender, SeniorCitizen, Partner, Dependents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senior citizens; 30% have dependents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tenure, Contract, PaperlessBilling, PaymentMethod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0–72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PhoneService, InternetService + 6 add-ons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OnlineSecurity, TechSupport, Streaming, etc.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MonthlyCharges, TotalCharges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$18.25–$118.75 monthly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 — 29.86% positive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DATASET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184708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7,043 records carry non-null values for 20 of 21 features. TotalCharges nulls (tenure = 0, new customers) are imputed with the column median rather than dropped.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821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values conform to expected sets (e.g. Contract restricted to 3 values) — no stray whitespace, casing, or encoding variants that would fragment one-hot categories.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525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31920" y="4187952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within 0–72 months; MonthlyCharges $18.25–$118.75; TotalCharges $18.80–$8,684.80 — all within plausible telecom billing bounds.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22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3583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Consistency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5358384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InternetService = 'No' correctly show 'No internet service' for all 6 dependent add-ons; PhoneService = 'No' correctly shows 'No phone service' for MultipleLines.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sequential stages, from raw data to a live prediction endpoint.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11680" cy="1280160"/>
          </a:xfrm>
          <a:prstGeom prst="roundRect">
            <a:avLst>
              <a:gd name="adj" fmla="val 642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212140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196596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011680" cy="1280160"/>
          </a:xfrm>
          <a:prstGeom prst="roundRect">
            <a:avLst>
              <a:gd name="adj" fmla="val 642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12140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07792" y="2724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196596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84064" y="1965960"/>
            <a:ext cx="2011680" cy="1280160"/>
          </a:xfrm>
          <a:prstGeom prst="roundRect">
            <a:avLst>
              <a:gd name="adj" fmla="val 642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212140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83387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5504" y="2724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95744" y="196596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51776" y="1965960"/>
            <a:ext cx="2011680" cy="1280160"/>
          </a:xfrm>
          <a:prstGeom prst="roundRect">
            <a:avLst>
              <a:gd name="adj" fmla="val 642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212140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43216" y="2724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63456" y="196596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19488" y="1965960"/>
            <a:ext cx="2011680" cy="1280160"/>
          </a:xfrm>
          <a:prstGeom prst="roundRect">
            <a:avLst>
              <a:gd name="adj" fmla="val 642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296" y="212140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10369296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10928" y="2724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4748B">
                <a:alpha val="18000"/>
              </a:srgbClr>
            </a:outerShdw>
          </a:effectLst>
        </p:spPr>
      </p:sp>
      <p:pic>
        <p:nvPicPr>
          <p:cNvPr id="30" name="Image 0" descr="/home/claude/assets/method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749040"/>
            <a:ext cx="10789920" cy="2468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9204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categoricals — gender, Partner, Dependents, PhoneService, PaperlessBilling, Churn — mapped to 0/1 via scikit-learn's LabelEncoder.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92040" y="33375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variables (MultipleLines, InternetService, security/support add-ons, Contract, PaymentMethod) expanded with pd.get_dummies(drop_first=True) to avoid multicollinearity.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377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19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92040" y="47548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scaled to zero mean, unit variance: z = (x − μ) / σ, via StandardScaler.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603504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0350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/ 20% with stratified sampling — preserves the churn class ratio in both sets (5,634 train / 1,409 test).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max_depth 15 · Gini impurity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4805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mode{h₁(x), h₂(x), …, h_B(x)}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9659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1947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53712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 · depth 5 · learning rate 0.1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44805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F_m(x) = F_{m-1}(x) + η·h_m(x)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9659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1947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02752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(C=1.0) · LBFGS · max_iter 1000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02752" y="44805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44805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e^-z)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trained on identical preprocessed data and compared on the same held-out test set for fairness.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377440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12121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(TP+TN+FP+FN)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4015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99232" y="2377440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121218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23774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99232" y="34015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of churn predictions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73736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85232" y="2377440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121218"/>
          </a:solidFill>
          <a:ln/>
        </p:spPr>
      </p:sp>
      <p:sp>
        <p:nvSpPr>
          <p:cNvPr id="17" name="Text 15"/>
          <p:cNvSpPr/>
          <p:nvPr/>
        </p:nvSpPr>
        <p:spPr>
          <a:xfrm>
            <a:off x="5321808" y="23774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85232" y="34015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actual churners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71232" y="2377440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121218"/>
          </a:solidFill>
          <a:ln/>
        </p:spPr>
      </p:sp>
      <p:sp>
        <p:nvSpPr>
          <p:cNvPr id="22" name="Text 20"/>
          <p:cNvSpPr/>
          <p:nvPr/>
        </p:nvSpPr>
        <p:spPr>
          <a:xfrm>
            <a:off x="7607808" y="23774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2·(P·R) / (P+R)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71232" y="34015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73736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857232" y="2377440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121218"/>
          </a:solidFill>
          <a:ln/>
        </p:spPr>
      </p:sp>
      <p:sp>
        <p:nvSpPr>
          <p:cNvPr id="27" name="Text 25"/>
          <p:cNvSpPr/>
          <p:nvPr/>
        </p:nvSpPr>
        <p:spPr>
          <a:xfrm>
            <a:off x="9893808" y="23774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under ROC curve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57232" y="34015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discrimination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 AUC for model selection?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is threshold-independent and robust to class imbalance — critical here, given the dataset's 1:2.3 churn ratio. A score of 1.0 indicates perfect discrimination; 0.5 is equivalent to random guessing.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96189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1428"/>
            <a:ext cx="5961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526280" y="2286000"/>
            <a:ext cx="596189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281428"/>
            <a:ext cx="5961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75320" y="2286000"/>
            <a:ext cx="67117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281428"/>
            <a:ext cx="67117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v1.26.4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2651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7296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77240" y="3721608"/>
            <a:ext cx="596189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17036"/>
            <a:ext cx="5961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v1.5.1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&amp; preprocessing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17296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Plotly.js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4526280" y="3721608"/>
            <a:ext cx="67117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717036"/>
            <a:ext cx="67117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v2.32.0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 rendering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17296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275320" y="3721608"/>
            <a:ext cx="67117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717036"/>
            <a:ext cx="67117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v22.0.0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Jinja2 templating, custom CSS dark-theme design system, Google Fonts (Inter). Backend uses a clean MVC-inspired separation across app.py (routes), config.py (settings), and train_model.py (ML pipeline).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Training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Config: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SECRET_KEY = os.environ.get(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'SECRET_KEY', 'churn...-2026')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DATA_PATH = os.path.join(BASE, 'data')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MODEL_PATH = os.path.join(BASE, 'models')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ADMIN_USERNAME = 'admin'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ADMIN_PASSWORD = 'admin123'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— model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models.items():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model.fit(X_train, y_train)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y_prob = model.predict_proba(X_test)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roc = roc_auc_score(y_test, y_prob)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roc &gt; best_score: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best_score = roc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best_model = 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decorator — login_required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login_required(f):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decorated(*a, **kw):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session.get('logged_in'):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redirect(url_for('login'))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f(*a, **kw)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21218"/>
          </a:solidFill>
          <a:ln w="9525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flask==3.0.3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pandas==2.2.2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numpy==1.26.4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scikit-learn==1.5.1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plotly==5.22.0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gunicorn==22.0.0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Routes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530352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/login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/logout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clearing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— KPI stats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/predict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churn 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/analytics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visualizations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/dataset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Paginated data explorer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/methodology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/api/chart-data/&lt;type&gt;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chart data (8 chart types)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except /login are protected by the login_required decorator.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APPLICATION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churn distribution donut, contract-type breakdown, and live model comparison — all rendered from the /api/chart-data endpoint.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home/claude/asse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20240"/>
            <a:ext cx="107899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APPLICATION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— Real-Time Scoring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multi-section form captures 19 customer attributes; the trained model returns a Churn / No Churn label with a probability score.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home/claude/assets/pred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20240"/>
            <a:ext cx="107899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APPLICATION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rankings alongside churn breakdowns by internet service, payment method, and tenure.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home/claude/assets/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20240"/>
            <a:ext cx="107899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APPLICATION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paginated browsing of all 7,043 records across 21 features — 353 pages at 20 records each.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home/claude/assets/data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20240"/>
            <a:ext cx="107899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TESTING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TESTING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&amp; Confusion Matrices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737360"/>
        </p:xfrm>
        <a:graphic>
          <a:graphicData uri="http://schemas.openxmlformats.org/drawingml/2006/table">
            <a:tbl>
              <a:tblPr/>
              <a:tblGrid>
                <a:gridCol w="3017520"/>
                <a:gridCol w="1609344"/>
                <a:gridCol w="1609344"/>
                <a:gridCol w="1609344"/>
                <a:gridCol w="1609344"/>
                <a:gridCol w="1609344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LOGISTIC REGRESSION (BEST MODEL)</a:t>
            </a:r>
            <a:endParaRPr lang="en-US" sz="12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486400" cy="173736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417320"/>
                <a:gridCol w="10972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AA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40233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37960" y="40233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869 true negatives · 195 true positives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false negatives · 119 false positives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true-negative rate with moderate recall — the model correctly identifies most retained customers while catching nearly half of churners.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5,634 samples (80%) · Evaluated on 1,409 samples (20%)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TESTING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26680" y="238658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194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dominates — Two-year and One-year contracts are the two strongest predictors.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2552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063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ranks 3rd — newer customers churn more; onboarding period is critical.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412394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&amp; electronic check correlate with elevated churn.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499262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7973568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Online Security / Tech Support increases risk.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BUSINESS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ROI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scenario: a mid-sized operator with 100,000 subscribers at this dataset's 29.86% churn rate.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4884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29,860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at risk annually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96596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4884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13,831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 by the model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(46.32% recall)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63056" y="196596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4884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2,766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27648" y="28346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customers retained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 save rate on flags)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70264" y="196596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1D1E33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14884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$1.57M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34856" y="28346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preserved annual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 this operator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DRIVES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conservative retention-outreach cost of $30 per flagged customer against an average customer lifetime value of $600 (12 months at the dataset's average monthly charge of $53.59), each retained customer represents roughly $570 in preserved revenue net of outreach cost. The feature importance ranking (Ch. 8.3) doubles as a prioritization tool: contract-upgrade incentives for month-to-month subscribers and bundled OnlineSecurity/TechSupport offers are the two interventions most likely to move the needle — allowing a fixed retention budget to be targeted where it statistically pays off most.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2402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the best ROC AUC (0.7831) among 3 models tested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1821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 &amp; internet service are the strongest churn predictors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27939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412394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+ fiber optic + e-check ⇒ significantly higher churn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2212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506577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functional modules deployed via a modern, dark-themed Flask web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17182B"/>
          </a:solidFill>
          <a:ln w="12700">
            <a:solidFill>
              <a:srgbClr val="2A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395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2258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real-world Kaggle Telco 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9626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8254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XGBoost, LightGBM &amp; deep learning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5295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33924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individual prediction explanations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096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3959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&amp; OAuth 2.0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663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with drift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52303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5093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integration with external CRM systems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5669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demonstrates a complete, reference-quality ML system — from raw data through deployment — bridging data science and business decision-making for proactive customer retention.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ChurnGuard AI  |  Customer Churn Prediction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2026-07-26T06:41:05Z</dcterms:created>
  <dcterms:modified xsi:type="dcterms:W3CDTF">2026-07-26T06:41:05Z</dcterms:modified>
</cp:coreProperties>
</file>